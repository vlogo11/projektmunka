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4a5fa254-a330-1962-190b-abc46d9ccdbd}">
          <p14:sldIdLst>
            <p14:sldId id="256"/>
            <p14:sldId id="257"/>
            <p14:sldId id="258"/>
          </p14:sldIdLst>
        </p14:section>
        <p14:section name="Funkciók" id="{290c0a2a-6b2e-06d4-18bd-ea4c89b1a2d0}">
          <p14:sldIdLst>
            <p14:sldId id="259"/>
            <p14:sldId id="260"/>
            <p14:sldId id="261"/>
            <p14:sldId id="262"/>
          </p14:sldIdLst>
        </p14:section>
        <p14:section name="Adatbázis és állapot" id="{f5039815-37da-ffaf-e10c-f24b79f5abfe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Autókölcsönző, -vásárlási, lízing és értékesítési weboldal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Projekt rövid ismertetése: célok, feladatok, felépítés és jelenlegi állapot</a:t>
            </a:r>
            <a:endParaRPr lang="en-US" sz="1800" dirty="0"/>
          </a:p>
        </p:txBody>
      </p:sp>
      <p:sp>
        <p:nvSpPr>
          <p:cNvPr id="4" name="Autó ikon kör"/>
          <p:cNvSpPr/>
          <p:nvPr/>
        </p:nvSpPr>
        <p:spPr>
          <a:xfrm>
            <a:off x="7589520" y="548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Autó 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5260" y="75438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projekt röviden</a:t>
            </a:r>
            <a:endParaRPr lang="en-US" sz="3400" dirty="0"/>
          </a:p>
        </p:txBody>
      </p:sp>
      <p:sp>
        <p:nvSpPr>
          <p:cNvPr id="3" name="Bevezető szöveg"/>
          <p:cNvSpPr txBox="1"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Egy weboldal, ahol a felhasználók elérhető autókat bérelhetnek, vásárolhatnak, lízingelhetnek, vagy akár saját autójukat eladhatják.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Vendégként is böngészhető, de profillal előzmények, értékelések és hűségkedvezmények is elérhetők.</a:t>
            </a:r>
            <a:endParaRPr lang="en-US" sz="1800" dirty="0"/>
          </a:p>
        </p:txBody>
      </p:sp>
      <p:sp>
        <p:nvSpPr>
          <p:cNvPr id="4" name="Csempe Autóvásárlás"/>
          <p:cNvSpPr/>
          <p:nvPr/>
        </p:nvSpPr>
        <p:spPr>
          <a:xfrm>
            <a:off x="4754880" y="137160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Autóvásárlás kör"/>
          <p:cNvSpPr/>
          <p:nvPr/>
        </p:nvSpPr>
        <p:spPr>
          <a:xfrm>
            <a:off x="49377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Autóvásárlá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691640"/>
            <a:ext cx="274320" cy="274320"/>
          </a:xfrm>
          <a:prstGeom prst="rect">
            <a:avLst/>
          </a:prstGeom>
        </p:spPr>
      </p:pic>
      <p:sp>
        <p:nvSpPr>
          <p:cNvPr id="7" name="Csempe felirat"/>
          <p:cNvSpPr txBox="1"/>
          <p:nvPr/>
        </p:nvSpPr>
        <p:spPr>
          <a:xfrm>
            <a:off x="493776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Autóvásárlás</a:t>
            </a:r>
            <a:endParaRPr lang="en-US" sz="1600" dirty="0"/>
          </a:p>
        </p:txBody>
      </p:sp>
      <p:sp>
        <p:nvSpPr>
          <p:cNvPr id="8" name="Csempe Autóbérlés"/>
          <p:cNvSpPr/>
          <p:nvPr/>
        </p:nvSpPr>
        <p:spPr>
          <a:xfrm>
            <a:off x="6812280" y="137160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Autóbérlés kör"/>
          <p:cNvSpPr/>
          <p:nvPr/>
        </p:nvSpPr>
        <p:spPr>
          <a:xfrm>
            <a:off x="69951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Autóbérlé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91640"/>
            <a:ext cx="274320" cy="274320"/>
          </a:xfrm>
          <a:prstGeom prst="rect">
            <a:avLst/>
          </a:prstGeom>
        </p:spPr>
      </p:pic>
      <p:sp>
        <p:nvSpPr>
          <p:cNvPr id="11" name="Csempe felirat"/>
          <p:cNvSpPr txBox="1"/>
          <p:nvPr/>
        </p:nvSpPr>
        <p:spPr>
          <a:xfrm>
            <a:off x="699516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Autóbérlés</a:t>
            </a:r>
            <a:endParaRPr lang="en-US" sz="1600" dirty="0"/>
          </a:p>
        </p:txBody>
      </p:sp>
      <p:sp>
        <p:nvSpPr>
          <p:cNvPr id="12" name="Csempe Autólízing"/>
          <p:cNvSpPr/>
          <p:nvPr/>
        </p:nvSpPr>
        <p:spPr>
          <a:xfrm>
            <a:off x="4754880" y="297180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Autólízing kör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Autólíz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291840"/>
            <a:ext cx="274320" cy="274320"/>
          </a:xfrm>
          <a:prstGeom prst="rect">
            <a:avLst/>
          </a:prstGeom>
        </p:spPr>
      </p:pic>
      <p:sp>
        <p:nvSpPr>
          <p:cNvPr id="15" name="Csempe felirat"/>
          <p:cNvSpPr txBox="1"/>
          <p:nvPr/>
        </p:nvSpPr>
        <p:spPr>
          <a:xfrm>
            <a:off x="493776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Autólízing</a:t>
            </a:r>
            <a:endParaRPr lang="en-US" sz="1600" dirty="0"/>
          </a:p>
        </p:txBody>
      </p:sp>
      <p:sp>
        <p:nvSpPr>
          <p:cNvPr id="16" name="Csempe Autó eladása"/>
          <p:cNvSpPr/>
          <p:nvPr/>
        </p:nvSpPr>
        <p:spPr>
          <a:xfrm>
            <a:off x="6812280" y="297180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Autó eladása kör"/>
          <p:cNvSpPr/>
          <p:nvPr/>
        </p:nvSpPr>
        <p:spPr>
          <a:xfrm>
            <a:off x="699516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3" descr="Autó eladás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291840"/>
            <a:ext cx="274320" cy="274320"/>
          </a:xfrm>
          <a:prstGeom prst="rect">
            <a:avLst/>
          </a:prstGeom>
        </p:spPr>
      </p:pic>
      <p:sp>
        <p:nvSpPr>
          <p:cNvPr id="19" name="Csempe felirat"/>
          <p:cNvSpPr txBox="1"/>
          <p:nvPr/>
        </p:nvSpPr>
        <p:spPr>
          <a:xfrm>
            <a:off x="699516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Autó eladása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Csapat és feladatok</a:t>
            </a:r>
            <a:endParaRPr lang="en-US" sz="3400" dirty="0"/>
          </a:p>
        </p:txBody>
      </p:sp>
      <p:sp>
        <p:nvSpPr>
          <p:cNvPr id="3" name="Kártya Garai Márk"/>
          <p:cNvSpPr/>
          <p:nvPr/>
        </p:nvSpPr>
        <p:spPr>
          <a:xfrm>
            <a:off x="457200" y="132588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ckend kör"/>
          <p:cNvSpPr/>
          <p:nvPr/>
        </p:nvSpPr>
        <p:spPr>
          <a:xfrm>
            <a:off x="640080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Back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6" name="Szerep"/>
          <p:cNvSpPr txBox="1"/>
          <p:nvPr/>
        </p:nvSpPr>
        <p:spPr>
          <a:xfrm>
            <a:off x="64008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Backend</a:t>
            </a:r>
            <a:endParaRPr lang="en-US" sz="2200" dirty="0"/>
          </a:p>
        </p:txBody>
      </p:sp>
      <p:sp>
        <p:nvSpPr>
          <p:cNvPr id="7" name="Név"/>
          <p:cNvSpPr txBox="1"/>
          <p:nvPr/>
        </p:nvSpPr>
        <p:spPr>
          <a:xfrm>
            <a:off x="64008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Garai Márk</a:t>
            </a:r>
            <a:endParaRPr lang="en-US" sz="1600" dirty="0"/>
          </a:p>
        </p:txBody>
      </p:sp>
      <p:sp>
        <p:nvSpPr>
          <p:cNvPr id="8" name="Leírás"/>
          <p:cNvSpPr txBox="1"/>
          <p:nvPr/>
        </p:nvSpPr>
        <p:spPr>
          <a:xfrm>
            <a:off x="64008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Szerveroldali működés</a:t>
            </a:r>
            <a:endParaRPr lang="en-US" sz="1400" dirty="0"/>
          </a:p>
        </p:txBody>
      </p:sp>
      <p:sp>
        <p:nvSpPr>
          <p:cNvPr id="9" name="Kártya Csikós Balázs"/>
          <p:cNvSpPr/>
          <p:nvPr/>
        </p:nvSpPr>
        <p:spPr>
          <a:xfrm>
            <a:off x="3291840" y="132588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datbázis kör"/>
          <p:cNvSpPr/>
          <p:nvPr/>
        </p:nvSpPr>
        <p:spPr>
          <a:xfrm>
            <a:off x="3474720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Adatbáz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37360"/>
            <a:ext cx="365760" cy="365760"/>
          </a:xfrm>
          <a:prstGeom prst="rect">
            <a:avLst/>
          </a:prstGeom>
        </p:spPr>
      </p:pic>
      <p:sp>
        <p:nvSpPr>
          <p:cNvPr id="12" name="Szerep"/>
          <p:cNvSpPr txBox="1"/>
          <p:nvPr/>
        </p:nvSpPr>
        <p:spPr>
          <a:xfrm>
            <a:off x="34747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Adatbázis</a:t>
            </a:r>
            <a:endParaRPr lang="en-US" sz="2200" dirty="0"/>
          </a:p>
        </p:txBody>
      </p:sp>
      <p:sp>
        <p:nvSpPr>
          <p:cNvPr id="13" name="Név"/>
          <p:cNvSpPr txBox="1"/>
          <p:nvPr/>
        </p:nvSpPr>
        <p:spPr>
          <a:xfrm>
            <a:off x="347472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Csikós Balázs</a:t>
            </a:r>
            <a:endParaRPr lang="en-US" sz="1600" dirty="0"/>
          </a:p>
        </p:txBody>
      </p:sp>
      <p:sp>
        <p:nvSpPr>
          <p:cNvPr id="14" name="Leírás"/>
          <p:cNvSpPr txBox="1"/>
          <p:nvPr/>
        </p:nvSpPr>
        <p:spPr>
          <a:xfrm>
            <a:off x="347472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Adatbázis-tervezés</a:t>
            </a:r>
            <a:endParaRPr lang="en-US" sz="1400" dirty="0"/>
          </a:p>
        </p:txBody>
      </p:sp>
      <p:sp>
        <p:nvSpPr>
          <p:cNvPr id="15" name="Kártya Oláh Zsombor"/>
          <p:cNvSpPr/>
          <p:nvPr/>
        </p:nvSpPr>
        <p:spPr>
          <a:xfrm>
            <a:off x="6126480" y="132588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rontend kör"/>
          <p:cNvSpPr/>
          <p:nvPr/>
        </p:nvSpPr>
        <p:spPr>
          <a:xfrm>
            <a:off x="6309360" y="15544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Fronte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365760" cy="365760"/>
          </a:xfrm>
          <a:prstGeom prst="rect">
            <a:avLst/>
          </a:prstGeom>
        </p:spPr>
      </p:pic>
      <p:sp>
        <p:nvSpPr>
          <p:cNvPr id="18" name="Szerep"/>
          <p:cNvSpPr txBox="1"/>
          <p:nvPr/>
        </p:nvSpPr>
        <p:spPr>
          <a:xfrm>
            <a:off x="63093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Frontend</a:t>
            </a:r>
            <a:endParaRPr lang="en-US" sz="2200" dirty="0"/>
          </a:p>
        </p:txBody>
      </p:sp>
      <p:sp>
        <p:nvSpPr>
          <p:cNvPr id="19" name="Név"/>
          <p:cNvSpPr txBox="1"/>
          <p:nvPr/>
        </p:nvSpPr>
        <p:spPr>
          <a:xfrm>
            <a:off x="63093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Oláh Zsombor</a:t>
            </a:r>
            <a:endParaRPr lang="en-US" sz="1600" dirty="0"/>
          </a:p>
        </p:txBody>
      </p:sp>
      <p:sp>
        <p:nvSpPr>
          <p:cNvPr id="20" name="Leírás"/>
          <p:cNvSpPr txBox="1"/>
          <p:nvPr/>
        </p:nvSpPr>
        <p:spPr>
          <a:xfrm>
            <a:off x="630936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Felhasználói felület</a:t>
            </a:r>
            <a:endParaRPr lang="en-US" sz="1400" dirty="0"/>
          </a:p>
        </p:txBody>
      </p:sp>
      <p:sp>
        <p:nvSpPr>
          <p:cNvPr id="21" name="Megjegyzés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 szerepek még változhatnak, és szükség esetén mindenki besegít a másikéba.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Főbb funkciók</a:t>
            </a:r>
            <a:endParaRPr lang="en-US" sz="3400" dirty="0"/>
          </a:p>
        </p:txBody>
      </p:sp>
      <p:sp>
        <p:nvSpPr>
          <p:cNvPr id="3" name="Kártya Autók böngészése"/>
          <p:cNvSpPr/>
          <p:nvPr/>
        </p:nvSpPr>
        <p:spPr>
          <a:xfrm>
            <a:off x="457200" y="123444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utók böngészése kör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Autók böngészé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228600" cy="228600"/>
          </a:xfrm>
          <a:prstGeom prst="rect">
            <a:avLst/>
          </a:prstGeom>
        </p:spPr>
      </p:pic>
      <p:sp>
        <p:nvSpPr>
          <p:cNvPr id="6" name="Szöveg Autók böngészése"/>
          <p:cNvSpPr txBox="1"/>
          <p:nvPr/>
        </p:nvSpPr>
        <p:spPr>
          <a:xfrm>
            <a:off x="594360" y="18928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Autók böngészése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Az elérhető járművek listája</a:t>
            </a:r>
            <a:endParaRPr lang="en-US" sz="1400" dirty="0"/>
          </a:p>
        </p:txBody>
      </p:sp>
      <p:sp>
        <p:nvSpPr>
          <p:cNvPr id="7" name="Kártya Szűrés"/>
          <p:cNvSpPr/>
          <p:nvPr/>
        </p:nvSpPr>
        <p:spPr>
          <a:xfrm>
            <a:off x="2560320" y="123444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zűrés kör"/>
          <p:cNvSpPr/>
          <p:nvPr/>
        </p:nvSpPr>
        <p:spPr>
          <a:xfrm>
            <a:off x="26974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Szűré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1485900"/>
            <a:ext cx="228600" cy="228600"/>
          </a:xfrm>
          <a:prstGeom prst="rect">
            <a:avLst/>
          </a:prstGeom>
        </p:spPr>
      </p:pic>
      <p:sp>
        <p:nvSpPr>
          <p:cNvPr id="10" name="Szöveg Szűrés"/>
          <p:cNvSpPr txBox="1"/>
          <p:nvPr/>
        </p:nvSpPr>
        <p:spPr>
          <a:xfrm>
            <a:off x="2697480" y="18928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Szűrés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Típus és ár alapján</a:t>
            </a:r>
            <a:endParaRPr lang="en-US" sz="1400" dirty="0"/>
          </a:p>
        </p:txBody>
      </p:sp>
      <p:sp>
        <p:nvSpPr>
          <p:cNvPr id="11" name="Kártya Bérlés és díj"/>
          <p:cNvSpPr/>
          <p:nvPr/>
        </p:nvSpPr>
        <p:spPr>
          <a:xfrm>
            <a:off x="4663440" y="123444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érlés és díj kör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Bérlés és díj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485900"/>
            <a:ext cx="228600" cy="228600"/>
          </a:xfrm>
          <a:prstGeom prst="rect">
            <a:avLst/>
          </a:prstGeom>
        </p:spPr>
      </p:pic>
      <p:sp>
        <p:nvSpPr>
          <p:cNvPr id="14" name="Szöveg Bérlés és díj"/>
          <p:cNvSpPr txBox="1"/>
          <p:nvPr/>
        </p:nvSpPr>
        <p:spPr>
          <a:xfrm>
            <a:off x="4800600" y="18928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Bérlés és díj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Időszak választás, hosszabb bérlésnél kedvezőbb ár</a:t>
            </a:r>
            <a:endParaRPr lang="en-US" sz="1400" dirty="0"/>
          </a:p>
        </p:txBody>
      </p:sp>
      <p:sp>
        <p:nvSpPr>
          <p:cNvPr id="15" name="Kártya Foglalás"/>
          <p:cNvSpPr/>
          <p:nvPr/>
        </p:nvSpPr>
        <p:spPr>
          <a:xfrm>
            <a:off x="6766560" y="123444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oglalás kör"/>
          <p:cNvSpPr/>
          <p:nvPr/>
        </p:nvSpPr>
        <p:spPr>
          <a:xfrm>
            <a:off x="69037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Foglalá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485900"/>
            <a:ext cx="228600" cy="228600"/>
          </a:xfrm>
          <a:prstGeom prst="rect">
            <a:avLst/>
          </a:prstGeom>
        </p:spPr>
      </p:pic>
      <p:sp>
        <p:nvSpPr>
          <p:cNvPr id="18" name="Szöveg Foglalás"/>
          <p:cNvSpPr txBox="1"/>
          <p:nvPr/>
        </p:nvSpPr>
        <p:spPr>
          <a:xfrm>
            <a:off x="6903720" y="18928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Foglalás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Foglalás és előfoglalás létrehozása</a:t>
            </a:r>
            <a:endParaRPr lang="en-US" sz="1400" dirty="0"/>
          </a:p>
        </p:txBody>
      </p:sp>
      <p:sp>
        <p:nvSpPr>
          <p:cNvPr id="19" name="Kártya Előzmények"/>
          <p:cNvSpPr/>
          <p:nvPr/>
        </p:nvSpPr>
        <p:spPr>
          <a:xfrm>
            <a:off x="457200" y="301752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Előzmények kör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Előzménye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268980"/>
            <a:ext cx="228600" cy="228600"/>
          </a:xfrm>
          <a:prstGeom prst="rect">
            <a:avLst/>
          </a:prstGeom>
        </p:spPr>
      </p:pic>
      <p:sp>
        <p:nvSpPr>
          <p:cNvPr id="22" name="Szöveg Előzmények"/>
          <p:cNvSpPr txBox="1"/>
          <p:nvPr/>
        </p:nvSpPr>
        <p:spPr>
          <a:xfrm>
            <a:off x="594360" y="36758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Előzmények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Bérlési és tranzakciós előzmények</a:t>
            </a:r>
            <a:endParaRPr lang="en-US" sz="1400" dirty="0"/>
          </a:p>
        </p:txBody>
      </p:sp>
      <p:sp>
        <p:nvSpPr>
          <p:cNvPr id="23" name="Kártya Vélemények"/>
          <p:cNvSpPr/>
          <p:nvPr/>
        </p:nvSpPr>
        <p:spPr>
          <a:xfrm>
            <a:off x="2560320" y="301752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Vélemények kör"/>
          <p:cNvSpPr/>
          <p:nvPr/>
        </p:nvSpPr>
        <p:spPr>
          <a:xfrm>
            <a:off x="269748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5" descr="Véleménye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780" y="3268980"/>
            <a:ext cx="228600" cy="228600"/>
          </a:xfrm>
          <a:prstGeom prst="rect">
            <a:avLst/>
          </a:prstGeom>
        </p:spPr>
      </p:pic>
      <p:sp>
        <p:nvSpPr>
          <p:cNvPr id="26" name="Szöveg Vélemények"/>
          <p:cNvSpPr txBox="1"/>
          <p:nvPr/>
        </p:nvSpPr>
        <p:spPr>
          <a:xfrm>
            <a:off x="2697480" y="36758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Vélemények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Értékelések és vélemények írása</a:t>
            </a:r>
            <a:endParaRPr lang="en-US" sz="1400" dirty="0"/>
          </a:p>
        </p:txBody>
      </p:sp>
      <p:sp>
        <p:nvSpPr>
          <p:cNvPr id="27" name="Kártya Hűségprogram"/>
          <p:cNvSpPr/>
          <p:nvPr/>
        </p:nvSpPr>
        <p:spPr>
          <a:xfrm>
            <a:off x="4663440" y="301752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Hűségprogram kör"/>
          <p:cNvSpPr/>
          <p:nvPr/>
        </p:nvSpPr>
        <p:spPr>
          <a:xfrm>
            <a:off x="480060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6" descr="Hűségprogra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3268980"/>
            <a:ext cx="228600" cy="228600"/>
          </a:xfrm>
          <a:prstGeom prst="rect">
            <a:avLst/>
          </a:prstGeom>
        </p:spPr>
      </p:pic>
      <p:sp>
        <p:nvSpPr>
          <p:cNvPr id="30" name="Szöveg Hűségprogram"/>
          <p:cNvSpPr txBox="1"/>
          <p:nvPr/>
        </p:nvSpPr>
        <p:spPr>
          <a:xfrm>
            <a:off x="4800600" y="36758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Hűségprogram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Hűségkedvezmények a rendszeres ügyfeleknek</a:t>
            </a:r>
            <a:endParaRPr lang="en-US" sz="1400" dirty="0"/>
          </a:p>
        </p:txBody>
      </p:sp>
      <p:sp>
        <p:nvSpPr>
          <p:cNvPr id="31" name="Kártya Kapcsolat"/>
          <p:cNvSpPr/>
          <p:nvPr/>
        </p:nvSpPr>
        <p:spPr>
          <a:xfrm>
            <a:off x="6766560" y="301752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Kapcsolat kör"/>
          <p:cNvSpPr/>
          <p:nvPr/>
        </p:nvSpPr>
        <p:spPr>
          <a:xfrm>
            <a:off x="690372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7" descr="Kapcsola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3268980"/>
            <a:ext cx="228600" cy="228600"/>
          </a:xfrm>
          <a:prstGeom prst="rect">
            <a:avLst/>
          </a:prstGeom>
        </p:spPr>
      </p:pic>
      <p:sp>
        <p:nvSpPr>
          <p:cNvPr id="34" name="Szöveg Kapcsolat"/>
          <p:cNvSpPr txBox="1"/>
          <p:nvPr/>
        </p:nvSpPr>
        <p:spPr>
          <a:xfrm>
            <a:off x="6903720" y="36758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Kapcsolat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Kapcsolatfelvétel, hírlevél, promóciós e-mailek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További funkciók</a:t>
            </a:r>
            <a:endParaRPr lang="en-US" sz="3400" dirty="0"/>
          </a:p>
        </p:txBody>
      </p:sp>
      <p:sp>
        <p:nvSpPr>
          <p:cNvPr id="3" name="Elem Google Maps autókereső"/>
          <p:cNvSpPr/>
          <p:nvPr/>
        </p:nvSpPr>
        <p:spPr>
          <a:xfrm>
            <a:off x="457200" y="123444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oogle Maps autókereső kör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Google Maps autókeres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228600" cy="228600"/>
          </a:xfrm>
          <a:prstGeom prst="rect">
            <a:avLst/>
          </a:prstGeom>
        </p:spPr>
      </p:pic>
      <p:sp>
        <p:nvSpPr>
          <p:cNvPr id="6" name="Felirat Google Maps autókereső"/>
          <p:cNvSpPr txBox="1"/>
          <p:nvPr/>
        </p:nvSpPr>
        <p:spPr>
          <a:xfrm>
            <a:off x="118872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Google Maps autókereső</a:t>
            </a:r>
            <a:endParaRPr lang="en-US" sz="1400" dirty="0"/>
          </a:p>
        </p:txBody>
      </p:sp>
      <p:sp>
        <p:nvSpPr>
          <p:cNvPr id="7" name="Elem Autóhitel és hitelkalkulátor"/>
          <p:cNvSpPr/>
          <p:nvPr/>
        </p:nvSpPr>
        <p:spPr>
          <a:xfrm>
            <a:off x="3246120" y="123444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utóhitel és hitelkalkulátor kör"/>
          <p:cNvSpPr/>
          <p:nvPr/>
        </p:nvSpPr>
        <p:spPr>
          <a:xfrm>
            <a:off x="33832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Autóhitel és hitelkalkulá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485900"/>
            <a:ext cx="228600" cy="228600"/>
          </a:xfrm>
          <a:prstGeom prst="rect">
            <a:avLst/>
          </a:prstGeom>
        </p:spPr>
      </p:pic>
      <p:sp>
        <p:nvSpPr>
          <p:cNvPr id="10" name="Felirat Autóhitel és hitelkalkulátor"/>
          <p:cNvSpPr txBox="1"/>
          <p:nvPr/>
        </p:nvSpPr>
        <p:spPr>
          <a:xfrm>
            <a:off x="397764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Autóhitel és hitelkalkulátor</a:t>
            </a:r>
            <a:endParaRPr lang="en-US" sz="1400" dirty="0"/>
          </a:p>
        </p:txBody>
      </p:sp>
      <p:sp>
        <p:nvSpPr>
          <p:cNvPr id="11" name="Elem Üzleti és alap fiókok"/>
          <p:cNvSpPr/>
          <p:nvPr/>
        </p:nvSpPr>
        <p:spPr>
          <a:xfrm>
            <a:off x="6035040" y="123444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Üzleti és alap fiókok kör"/>
          <p:cNvSpPr/>
          <p:nvPr/>
        </p:nvSpPr>
        <p:spPr>
          <a:xfrm>
            <a:off x="617220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Üzleti és alap fiók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85900"/>
            <a:ext cx="228600" cy="228600"/>
          </a:xfrm>
          <a:prstGeom prst="rect">
            <a:avLst/>
          </a:prstGeom>
        </p:spPr>
      </p:pic>
      <p:sp>
        <p:nvSpPr>
          <p:cNvPr id="14" name="Felirat Üzleti és alap fiókok"/>
          <p:cNvSpPr txBox="1"/>
          <p:nvPr/>
        </p:nvSpPr>
        <p:spPr>
          <a:xfrm>
            <a:off x="676656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Üzleti és alap fiókok</a:t>
            </a:r>
            <a:endParaRPr lang="en-US" sz="1400" dirty="0"/>
          </a:p>
        </p:txBody>
      </p:sp>
      <p:sp>
        <p:nvSpPr>
          <p:cNvPr id="15" name="Elem AI-alapú ajánlások (ötlet)"/>
          <p:cNvSpPr/>
          <p:nvPr/>
        </p:nvSpPr>
        <p:spPr>
          <a:xfrm>
            <a:off x="457200" y="210312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I-alapú ajánlások (ötlet) kör"/>
          <p:cNvSpPr/>
          <p:nvPr/>
        </p:nvSpPr>
        <p:spPr>
          <a:xfrm>
            <a:off x="594360" y="22402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AI-alapú ajánlások (ötlet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354580"/>
            <a:ext cx="228600" cy="228600"/>
          </a:xfrm>
          <a:prstGeom prst="rect">
            <a:avLst/>
          </a:prstGeom>
        </p:spPr>
      </p:pic>
      <p:sp>
        <p:nvSpPr>
          <p:cNvPr id="18" name="Felirat AI-alapú ajánlások (ötlet)"/>
          <p:cNvSpPr txBox="1"/>
          <p:nvPr/>
        </p:nvSpPr>
        <p:spPr>
          <a:xfrm>
            <a:off x="118872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AI-alapú ajánlások (ötlet)</a:t>
            </a:r>
            <a:endParaRPr lang="en-US" sz="1400" dirty="0"/>
          </a:p>
        </p:txBody>
      </p:sp>
      <p:sp>
        <p:nvSpPr>
          <p:cNvPr id="19" name="Elem Autóipari és közlekedési hírek"/>
          <p:cNvSpPr/>
          <p:nvPr/>
        </p:nvSpPr>
        <p:spPr>
          <a:xfrm>
            <a:off x="3246120" y="210312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utóipari és közlekedési hírek kör"/>
          <p:cNvSpPr/>
          <p:nvPr/>
        </p:nvSpPr>
        <p:spPr>
          <a:xfrm>
            <a:off x="338328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Autóipari és közlekedési híre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580" y="2354580"/>
            <a:ext cx="228600" cy="228600"/>
          </a:xfrm>
          <a:prstGeom prst="rect">
            <a:avLst/>
          </a:prstGeom>
        </p:spPr>
      </p:pic>
      <p:sp>
        <p:nvSpPr>
          <p:cNvPr id="22" name="Felirat Autóipari és közlekedési hírek"/>
          <p:cNvSpPr txBox="1"/>
          <p:nvPr/>
        </p:nvSpPr>
        <p:spPr>
          <a:xfrm>
            <a:off x="397764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Autóipari és közlekedési hírek</a:t>
            </a:r>
            <a:endParaRPr lang="en-US" sz="1400" dirty="0"/>
          </a:p>
        </p:txBody>
      </p:sp>
      <p:sp>
        <p:nvSpPr>
          <p:cNvPr id="23" name="Elem Járműelőélet, részletes adatok"/>
          <p:cNvSpPr/>
          <p:nvPr/>
        </p:nvSpPr>
        <p:spPr>
          <a:xfrm>
            <a:off x="6035040" y="210312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Járműelőélet, részletes adatok kör"/>
          <p:cNvSpPr/>
          <p:nvPr/>
        </p:nvSpPr>
        <p:spPr>
          <a:xfrm>
            <a:off x="617220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5" descr="Járműelőélet, részletes adato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354580"/>
            <a:ext cx="228600" cy="228600"/>
          </a:xfrm>
          <a:prstGeom prst="rect">
            <a:avLst/>
          </a:prstGeom>
        </p:spPr>
      </p:pic>
      <p:sp>
        <p:nvSpPr>
          <p:cNvPr id="26" name="Felirat Járműelőélet, részletes adatok"/>
          <p:cNvSpPr txBox="1"/>
          <p:nvPr/>
        </p:nvSpPr>
        <p:spPr>
          <a:xfrm>
            <a:off x="676656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Járműelőélet, részletes adatok</a:t>
            </a:r>
            <a:endParaRPr lang="en-US" sz="1400" dirty="0"/>
          </a:p>
        </p:txBody>
      </p:sp>
      <p:sp>
        <p:nvSpPr>
          <p:cNvPr id="27" name="Elem Ügyfélszolgálat, hibajegyek"/>
          <p:cNvSpPr/>
          <p:nvPr/>
        </p:nvSpPr>
        <p:spPr>
          <a:xfrm>
            <a:off x="457200" y="297180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Ügyfélszolgálat, hibajegyek kör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6" descr="Ügyfélszolgálat, hibajegye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3223260"/>
            <a:ext cx="228600" cy="228600"/>
          </a:xfrm>
          <a:prstGeom prst="rect">
            <a:avLst/>
          </a:prstGeom>
        </p:spPr>
      </p:pic>
      <p:sp>
        <p:nvSpPr>
          <p:cNvPr id="30" name="Felirat Ügyfélszolgálat, hibajegyek"/>
          <p:cNvSpPr txBox="1"/>
          <p:nvPr/>
        </p:nvSpPr>
        <p:spPr>
          <a:xfrm>
            <a:off x="118872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Ügyfélszolgálat, hibajegyek</a:t>
            </a:r>
            <a:endParaRPr lang="en-US" sz="1400" dirty="0"/>
          </a:p>
        </p:txBody>
      </p:sp>
      <p:sp>
        <p:nvSpPr>
          <p:cNvPr id="31" name="Elem Eladó–vevő üzenetküldés"/>
          <p:cNvSpPr/>
          <p:nvPr/>
        </p:nvSpPr>
        <p:spPr>
          <a:xfrm>
            <a:off x="3246120" y="297180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Eladó–vevő üzenetküldés kör"/>
          <p:cNvSpPr/>
          <p:nvPr/>
        </p:nvSpPr>
        <p:spPr>
          <a:xfrm>
            <a:off x="338328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7" descr="Eladó–vevő üzenetküldé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7580" y="3223260"/>
            <a:ext cx="228600" cy="228600"/>
          </a:xfrm>
          <a:prstGeom prst="rect">
            <a:avLst/>
          </a:prstGeom>
        </p:spPr>
      </p:pic>
      <p:sp>
        <p:nvSpPr>
          <p:cNvPr id="34" name="Felirat Eladó–vevő üzenetküldés"/>
          <p:cNvSpPr txBox="1"/>
          <p:nvPr/>
        </p:nvSpPr>
        <p:spPr>
          <a:xfrm>
            <a:off x="397764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Eladó–vevő üzenetküldés</a:t>
            </a:r>
            <a:endParaRPr lang="en-US" sz="1400" dirty="0"/>
          </a:p>
        </p:txBody>
      </p:sp>
      <p:sp>
        <p:nvSpPr>
          <p:cNvPr id="35" name="Elem Autószerviz és javítás"/>
          <p:cNvSpPr/>
          <p:nvPr/>
        </p:nvSpPr>
        <p:spPr>
          <a:xfrm>
            <a:off x="6035040" y="297180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Autószerviz és javítás kör"/>
          <p:cNvSpPr/>
          <p:nvPr/>
        </p:nvSpPr>
        <p:spPr>
          <a:xfrm>
            <a:off x="617220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8" descr="Autószerviz és javítá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3223260"/>
            <a:ext cx="228600" cy="228600"/>
          </a:xfrm>
          <a:prstGeom prst="rect">
            <a:avLst/>
          </a:prstGeom>
        </p:spPr>
      </p:pic>
      <p:sp>
        <p:nvSpPr>
          <p:cNvPr id="38" name="Felirat Autószerviz és javítás"/>
          <p:cNvSpPr txBox="1"/>
          <p:nvPr/>
        </p:nvSpPr>
        <p:spPr>
          <a:xfrm>
            <a:off x="676656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Autószerviz és javítás</a:t>
            </a:r>
            <a:endParaRPr lang="en-US" sz="1400" dirty="0"/>
          </a:p>
        </p:txBody>
      </p:sp>
      <p:sp>
        <p:nvSpPr>
          <p:cNvPr id="39" name="Elem Számla / nyugta generálás"/>
          <p:cNvSpPr/>
          <p:nvPr/>
        </p:nvSpPr>
        <p:spPr>
          <a:xfrm>
            <a:off x="457200" y="384048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Számla / nyugta generálás kör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mage 9" descr="Számla / nyugta generálá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" y="4091940"/>
            <a:ext cx="228600" cy="228600"/>
          </a:xfrm>
          <a:prstGeom prst="rect">
            <a:avLst/>
          </a:prstGeom>
        </p:spPr>
      </p:pic>
      <p:sp>
        <p:nvSpPr>
          <p:cNvPr id="42" name="Felirat Számla / nyugta generálás"/>
          <p:cNvSpPr txBox="1"/>
          <p:nvPr/>
        </p:nvSpPr>
        <p:spPr>
          <a:xfrm>
            <a:off x="118872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Számla / nyugta generálás</a:t>
            </a:r>
            <a:endParaRPr lang="en-US" sz="1400" dirty="0"/>
          </a:p>
        </p:txBody>
      </p:sp>
      <p:sp>
        <p:nvSpPr>
          <p:cNvPr id="43" name="Elem Késedelmi díj és kaució"/>
          <p:cNvSpPr/>
          <p:nvPr/>
        </p:nvSpPr>
        <p:spPr>
          <a:xfrm>
            <a:off x="3246120" y="384048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Késedelmi díj és kaució kör"/>
          <p:cNvSpPr/>
          <p:nvPr/>
        </p:nvSpPr>
        <p:spPr>
          <a:xfrm>
            <a:off x="338328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mage 10" descr="Késedelmi díj és kaució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97580" y="4091940"/>
            <a:ext cx="228600" cy="228600"/>
          </a:xfrm>
          <a:prstGeom prst="rect">
            <a:avLst/>
          </a:prstGeom>
        </p:spPr>
      </p:pic>
      <p:sp>
        <p:nvSpPr>
          <p:cNvPr id="46" name="Felirat Késedelmi díj és kaució"/>
          <p:cNvSpPr txBox="1"/>
          <p:nvPr/>
        </p:nvSpPr>
        <p:spPr>
          <a:xfrm>
            <a:off x="397764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Késedelmi díj és kaució</a:t>
            </a:r>
            <a:endParaRPr lang="en-US" sz="1400" dirty="0"/>
          </a:p>
        </p:txBody>
      </p:sp>
      <p:sp>
        <p:nvSpPr>
          <p:cNvPr id="47" name="Elem Díj idő és távolság alapján"/>
          <p:cNvSpPr/>
          <p:nvPr/>
        </p:nvSpPr>
        <p:spPr>
          <a:xfrm>
            <a:off x="6035040" y="384048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Díj idő és távolság alapján kör"/>
          <p:cNvSpPr/>
          <p:nvPr/>
        </p:nvSpPr>
        <p:spPr>
          <a:xfrm>
            <a:off x="617220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9" name="Image 11" descr="Díj idő és távolság alapjá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4091940"/>
            <a:ext cx="228600" cy="228600"/>
          </a:xfrm>
          <a:prstGeom prst="rect">
            <a:avLst/>
          </a:prstGeom>
        </p:spPr>
      </p:pic>
      <p:sp>
        <p:nvSpPr>
          <p:cNvPr id="50" name="Felirat Díj idő és távolság alapján"/>
          <p:cNvSpPr txBox="1"/>
          <p:nvPr/>
        </p:nvSpPr>
        <p:spPr>
          <a:xfrm>
            <a:off x="676656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Díj idő és távolság alapján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Az oldal részei</a:t>
            </a:r>
            <a:endParaRPr lang="en-US" sz="3400" dirty="0"/>
          </a:p>
        </p:txBody>
      </p:sp>
      <p:sp>
        <p:nvSpPr>
          <p:cNvPr id="3" name="Rész Eladófelület"/>
          <p:cNvSpPr/>
          <p:nvPr/>
        </p:nvSpPr>
        <p:spPr>
          <a:xfrm>
            <a:off x="457200" y="137160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Eladófelület kör"/>
          <p:cNvSpPr/>
          <p:nvPr/>
        </p:nvSpPr>
        <p:spPr>
          <a:xfrm>
            <a:off x="868680" y="16459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Eladófelü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10512"/>
            <a:ext cx="329184" cy="329184"/>
          </a:xfrm>
          <a:prstGeom prst="rect">
            <a:avLst/>
          </a:prstGeom>
        </p:spPr>
      </p:pic>
      <p:sp>
        <p:nvSpPr>
          <p:cNvPr id="6" name="Szöveg Eladófelület"/>
          <p:cNvSpPr txBox="1"/>
          <p:nvPr/>
        </p:nvSpPr>
        <p:spPr>
          <a:xfrm>
            <a:off x="594360" y="25603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Eladófelület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Autók hirdetése és eladása</a:t>
            </a:r>
            <a:endParaRPr lang="en-US" sz="1500" dirty="0"/>
          </a:p>
        </p:txBody>
      </p:sp>
      <p:sp>
        <p:nvSpPr>
          <p:cNvPr id="7" name="Rész Bérlőfelület"/>
          <p:cNvSpPr/>
          <p:nvPr/>
        </p:nvSpPr>
        <p:spPr>
          <a:xfrm>
            <a:off x="2144268" y="137160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érlőfelület kör"/>
          <p:cNvSpPr/>
          <p:nvPr/>
        </p:nvSpPr>
        <p:spPr>
          <a:xfrm>
            <a:off x="2555748" y="16459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Bérlőfelül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810512"/>
            <a:ext cx="329184" cy="329184"/>
          </a:xfrm>
          <a:prstGeom prst="rect">
            <a:avLst/>
          </a:prstGeom>
        </p:spPr>
      </p:pic>
      <p:sp>
        <p:nvSpPr>
          <p:cNvPr id="10" name="Szöveg Bérlőfelület"/>
          <p:cNvSpPr txBox="1"/>
          <p:nvPr/>
        </p:nvSpPr>
        <p:spPr>
          <a:xfrm>
            <a:off x="2281428" y="25603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Bérlőfelület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Böngészés, szűrés, foglalás</a:t>
            </a:r>
            <a:endParaRPr lang="en-US" sz="1500" dirty="0"/>
          </a:p>
        </p:txBody>
      </p:sp>
      <p:sp>
        <p:nvSpPr>
          <p:cNvPr id="11" name="Rész Profil"/>
          <p:cNvSpPr/>
          <p:nvPr/>
        </p:nvSpPr>
        <p:spPr>
          <a:xfrm>
            <a:off x="3831336" y="137160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Profil kör"/>
          <p:cNvSpPr/>
          <p:nvPr/>
        </p:nvSpPr>
        <p:spPr>
          <a:xfrm>
            <a:off x="4242816" y="16459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of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810512"/>
            <a:ext cx="329184" cy="329184"/>
          </a:xfrm>
          <a:prstGeom prst="rect">
            <a:avLst/>
          </a:prstGeom>
        </p:spPr>
      </p:pic>
      <p:sp>
        <p:nvSpPr>
          <p:cNvPr id="14" name="Szöveg Profil"/>
          <p:cNvSpPr txBox="1"/>
          <p:nvPr/>
        </p:nvSpPr>
        <p:spPr>
          <a:xfrm>
            <a:off x="3968496" y="25603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Profil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Adatok, előzmények, hűségprogram</a:t>
            </a:r>
            <a:endParaRPr lang="en-US" sz="1500" dirty="0"/>
          </a:p>
        </p:txBody>
      </p:sp>
      <p:sp>
        <p:nvSpPr>
          <p:cNvPr id="15" name="Rész Beépített térkép"/>
          <p:cNvSpPr/>
          <p:nvPr/>
        </p:nvSpPr>
        <p:spPr>
          <a:xfrm>
            <a:off x="5518404" y="137160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eépített térkép kör"/>
          <p:cNvSpPr/>
          <p:nvPr/>
        </p:nvSpPr>
        <p:spPr>
          <a:xfrm>
            <a:off x="5929884" y="16459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Beépített térké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1810512"/>
            <a:ext cx="329184" cy="329184"/>
          </a:xfrm>
          <a:prstGeom prst="rect">
            <a:avLst/>
          </a:prstGeom>
        </p:spPr>
      </p:pic>
      <p:sp>
        <p:nvSpPr>
          <p:cNvPr id="18" name="Szöveg Beépített térkép"/>
          <p:cNvSpPr txBox="1"/>
          <p:nvPr/>
        </p:nvSpPr>
        <p:spPr>
          <a:xfrm>
            <a:off x="5655564" y="25603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Beépített térkép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Autókereső és lokátor</a:t>
            </a:r>
            <a:endParaRPr lang="en-US" sz="1500" dirty="0"/>
          </a:p>
        </p:txBody>
      </p:sp>
      <p:sp>
        <p:nvSpPr>
          <p:cNvPr id="19" name="Rész Egyéb részek"/>
          <p:cNvSpPr/>
          <p:nvPr/>
        </p:nvSpPr>
        <p:spPr>
          <a:xfrm>
            <a:off x="7205472" y="137160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Egyéb részek kör"/>
          <p:cNvSpPr/>
          <p:nvPr/>
        </p:nvSpPr>
        <p:spPr>
          <a:xfrm>
            <a:off x="7616952" y="16459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Egyéb része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1810512"/>
            <a:ext cx="329184" cy="329184"/>
          </a:xfrm>
          <a:prstGeom prst="rect">
            <a:avLst/>
          </a:prstGeom>
        </p:spPr>
      </p:pic>
      <p:sp>
        <p:nvSpPr>
          <p:cNvPr id="22" name="Szöveg Egyéb részek"/>
          <p:cNvSpPr txBox="1"/>
          <p:nvPr/>
        </p:nvSpPr>
        <p:spPr>
          <a:xfrm>
            <a:off x="7342632" y="25603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Egyéb részek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Hírek, hírlevél, ügyfélszolgálat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Hogyan működik</a:t>
            </a:r>
            <a:endParaRPr lang="en-US" sz="3400" dirty="0"/>
          </a:p>
        </p:txBody>
      </p:sp>
      <p:sp>
        <p:nvSpPr>
          <p:cNvPr id="3" name="Lépés Belépés"/>
          <p:cNvSpPr/>
          <p:nvPr/>
        </p:nvSpPr>
        <p:spPr>
          <a:xfrm>
            <a:off x="457200" y="1371600"/>
            <a:ext cx="1828800" cy="26517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zám kör 1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zám 1"/>
          <p:cNvSpPr txBox="1"/>
          <p:nvPr/>
        </p:nvSpPr>
        <p:spPr>
          <a:xfrm>
            <a:off x="6400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zöveg Belépés"/>
          <p:cNvSpPr txBox="1"/>
          <p:nvPr/>
        </p:nvSpPr>
        <p:spPr>
          <a:xfrm>
            <a:off x="640080" y="242316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Belépés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Profil készítése, belépés meglévő fiókkal vagy böngészés vendégként</a:t>
            </a:r>
            <a:endParaRPr lang="en-US" sz="1800" dirty="0"/>
          </a:p>
        </p:txBody>
      </p:sp>
      <p:sp>
        <p:nvSpPr>
          <p:cNvPr id="7" name="Nyíl 1"/>
          <p:cNvSpPr/>
          <p:nvPr/>
        </p:nvSpPr>
        <p:spPr>
          <a:xfrm>
            <a:off x="2322576" y="2697480"/>
            <a:ext cx="228600" cy="274320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Lépés Választás"/>
          <p:cNvSpPr/>
          <p:nvPr/>
        </p:nvSpPr>
        <p:spPr>
          <a:xfrm>
            <a:off x="2587752" y="1371600"/>
            <a:ext cx="1828800" cy="26517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zám kör 2"/>
          <p:cNvSpPr/>
          <p:nvPr/>
        </p:nvSpPr>
        <p:spPr>
          <a:xfrm>
            <a:off x="2770632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zám 2"/>
          <p:cNvSpPr txBox="1"/>
          <p:nvPr/>
        </p:nvSpPr>
        <p:spPr>
          <a:xfrm>
            <a:off x="2770632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Szöveg Választás"/>
          <p:cNvSpPr txBox="1"/>
          <p:nvPr/>
        </p:nvSpPr>
        <p:spPr>
          <a:xfrm>
            <a:off x="2770632" y="242316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Választás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Autóvásárlás (hitelre vagy önerőből) vagy autóbérlés</a:t>
            </a:r>
            <a:endParaRPr lang="en-US" sz="1800" dirty="0"/>
          </a:p>
        </p:txBody>
      </p:sp>
      <p:sp>
        <p:nvSpPr>
          <p:cNvPr id="12" name="Nyíl 2"/>
          <p:cNvSpPr/>
          <p:nvPr/>
        </p:nvSpPr>
        <p:spPr>
          <a:xfrm>
            <a:off x="4453128" y="2697480"/>
            <a:ext cx="228600" cy="274320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Lépés Böngészés"/>
          <p:cNvSpPr/>
          <p:nvPr/>
        </p:nvSpPr>
        <p:spPr>
          <a:xfrm>
            <a:off x="4718304" y="1371600"/>
            <a:ext cx="1828800" cy="26517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zám kör 3"/>
          <p:cNvSpPr/>
          <p:nvPr/>
        </p:nvSpPr>
        <p:spPr>
          <a:xfrm>
            <a:off x="4901184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zám 3"/>
          <p:cNvSpPr txBox="1"/>
          <p:nvPr/>
        </p:nvSpPr>
        <p:spPr>
          <a:xfrm>
            <a:off x="4901184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Szöveg Böngészés"/>
          <p:cNvSpPr txBox="1"/>
          <p:nvPr/>
        </p:nvSpPr>
        <p:spPr>
          <a:xfrm>
            <a:off x="4901184" y="242316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Böngészés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Minden járműnél megjelennek az adatok, ezek alapján lehet szűrni</a:t>
            </a:r>
            <a:endParaRPr lang="en-US" sz="1800" dirty="0"/>
          </a:p>
        </p:txBody>
      </p:sp>
      <p:sp>
        <p:nvSpPr>
          <p:cNvPr id="17" name="Nyíl 3"/>
          <p:cNvSpPr/>
          <p:nvPr/>
        </p:nvSpPr>
        <p:spPr>
          <a:xfrm>
            <a:off x="6583680" y="2697480"/>
            <a:ext cx="228600" cy="274320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Lépés Visszajelzés"/>
          <p:cNvSpPr/>
          <p:nvPr/>
        </p:nvSpPr>
        <p:spPr>
          <a:xfrm>
            <a:off x="6848856" y="1371600"/>
            <a:ext cx="1828800" cy="26517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zám kör 4"/>
          <p:cNvSpPr/>
          <p:nvPr/>
        </p:nvSpPr>
        <p:spPr>
          <a:xfrm>
            <a:off x="7031736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zám 4"/>
          <p:cNvSpPr txBox="1"/>
          <p:nvPr/>
        </p:nvSpPr>
        <p:spPr>
          <a:xfrm>
            <a:off x="7031736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Szöveg Visszajelzés"/>
          <p:cNvSpPr txBox="1"/>
          <p:nvPr/>
        </p:nvSpPr>
        <p:spPr>
          <a:xfrm>
            <a:off x="7031736" y="242316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Visszajelzés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Vélemény írható; a hitel–önerő kalkulátor segíti a döntést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Adatbázis felépítése</a:t>
            </a:r>
            <a:endParaRPr lang="en-US" sz="3400" dirty="0"/>
          </a:p>
        </p:txBody>
      </p:sp>
      <p:sp>
        <p:nvSpPr>
          <p:cNvPr id="3" name="Kapcsolat bal 1"/>
          <p:cNvSpPr/>
          <p:nvPr/>
        </p:nvSpPr>
        <p:spPr>
          <a:xfrm flipV="1">
            <a:off x="2560320" y="1623060"/>
            <a:ext cx="868680" cy="1280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" name="Kapcsolat jobb 1"/>
          <p:cNvSpPr/>
          <p:nvPr/>
        </p:nvSpPr>
        <p:spPr>
          <a:xfrm>
            <a:off x="5715000" y="1623060"/>
            <a:ext cx="868680" cy="1280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" name="Kapcsolat bal 2"/>
          <p:cNvSpPr/>
          <p:nvPr/>
        </p:nvSpPr>
        <p:spPr>
          <a:xfrm>
            <a:off x="2560320" y="2903220"/>
            <a:ext cx="868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Kapcsolat jobb 2"/>
          <p:cNvSpPr/>
          <p:nvPr/>
        </p:nvSpPr>
        <p:spPr>
          <a:xfrm flipV="1">
            <a:off x="5715000" y="2903220"/>
            <a:ext cx="868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Kapcsolat bal 3"/>
          <p:cNvSpPr/>
          <p:nvPr/>
        </p:nvSpPr>
        <p:spPr>
          <a:xfrm>
            <a:off x="2560320" y="2903220"/>
            <a:ext cx="868680" cy="1280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Kapcsolat jobb 3"/>
          <p:cNvSpPr/>
          <p:nvPr/>
        </p:nvSpPr>
        <p:spPr>
          <a:xfrm flipV="1">
            <a:off x="5715000" y="2903220"/>
            <a:ext cx="868680" cy="1280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Kapcsolat kategória"/>
          <p:cNvSpPr/>
          <p:nvPr/>
        </p:nvSpPr>
        <p:spPr>
          <a:xfrm>
            <a:off x="7635240" y="3726180"/>
            <a:ext cx="0" cy="3429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Tábla Felhasználók"/>
          <p:cNvSpPr/>
          <p:nvPr/>
        </p:nvSpPr>
        <p:spPr>
          <a:xfrm>
            <a:off x="457200" y="2080260"/>
            <a:ext cx="2103120" cy="1645920"/>
          </a:xfrm>
          <a:prstGeom prst="roundRect">
            <a:avLst>
              <a:gd name="adj" fmla="val 555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Szöveg Felhasználók"/>
          <p:cNvSpPr txBox="1"/>
          <p:nvPr/>
        </p:nvSpPr>
        <p:spPr>
          <a:xfrm>
            <a:off x="594360" y="214884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Felhasználók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8 mező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név, e-mail, jelszó_hash, profil típus…</a:t>
            </a:r>
            <a:endParaRPr lang="en-US" sz="1800" dirty="0"/>
          </a:p>
        </p:txBody>
      </p:sp>
      <p:sp>
        <p:nvSpPr>
          <p:cNvPr id="12" name="Tábla Járművek"/>
          <p:cNvSpPr/>
          <p:nvPr/>
        </p:nvSpPr>
        <p:spPr>
          <a:xfrm>
            <a:off x="6583680" y="2080260"/>
            <a:ext cx="2103120" cy="1645920"/>
          </a:xfrm>
          <a:prstGeom prst="roundRect">
            <a:avLst>
              <a:gd name="adj" fmla="val 555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Szöveg Járművek"/>
          <p:cNvSpPr txBox="1"/>
          <p:nvPr/>
        </p:nvSpPr>
        <p:spPr>
          <a:xfrm>
            <a:off x="6720840" y="214884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Járművek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14 mező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márka, modell, évjárat, napi díj, vételár…</a:t>
            </a:r>
            <a:endParaRPr lang="en-US" sz="1800" dirty="0"/>
          </a:p>
        </p:txBody>
      </p:sp>
      <p:sp>
        <p:nvSpPr>
          <p:cNvPr id="14" name="Tábla Vélemények"/>
          <p:cNvSpPr/>
          <p:nvPr/>
        </p:nvSpPr>
        <p:spPr>
          <a:xfrm>
            <a:off x="3429000" y="118872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zöveg Vélemények"/>
          <p:cNvSpPr txBox="1"/>
          <p:nvPr/>
        </p:nvSpPr>
        <p:spPr>
          <a:xfrm>
            <a:off x="3566160" y="1234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Vélemények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értékelés 1–5, cím, szöveg</a:t>
            </a:r>
            <a:endParaRPr lang="en-US" sz="1400" dirty="0"/>
          </a:p>
        </p:txBody>
      </p:sp>
      <p:sp>
        <p:nvSpPr>
          <p:cNvPr id="16" name="Tábla Bérlések"/>
          <p:cNvSpPr/>
          <p:nvPr/>
        </p:nvSpPr>
        <p:spPr>
          <a:xfrm>
            <a:off x="3429000" y="246888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zöveg Bérlések"/>
          <p:cNvSpPr txBox="1"/>
          <p:nvPr/>
        </p:nvSpPr>
        <p:spPr>
          <a:xfrm>
            <a:off x="3566160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Bérlések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időszak, helyszínek, díj, státuszok</a:t>
            </a:r>
            <a:endParaRPr lang="en-US" sz="1400" dirty="0"/>
          </a:p>
        </p:txBody>
      </p:sp>
      <p:sp>
        <p:nvSpPr>
          <p:cNvPr id="18" name="Tábla Vásárlások"/>
          <p:cNvSpPr/>
          <p:nvPr/>
        </p:nvSpPr>
        <p:spPr>
          <a:xfrm>
            <a:off x="3429000" y="374904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zöveg Vásárlások"/>
          <p:cNvSpPr txBox="1"/>
          <p:nvPr/>
        </p:nvSpPr>
        <p:spPr>
          <a:xfrm>
            <a:off x="3566160" y="3794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Vásárlások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vételár, fizetés, átadás dátuma</a:t>
            </a:r>
            <a:endParaRPr lang="en-US" sz="1400" dirty="0"/>
          </a:p>
        </p:txBody>
      </p:sp>
      <p:sp>
        <p:nvSpPr>
          <p:cNvPr id="20" name="Tábla Járműkategóriák"/>
          <p:cNvSpPr/>
          <p:nvPr/>
        </p:nvSpPr>
        <p:spPr>
          <a:xfrm>
            <a:off x="6583680" y="406908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zöveg Járműkategóriák"/>
          <p:cNvSpPr txBox="1"/>
          <p:nvPr/>
        </p:nvSpPr>
        <p:spPr>
          <a:xfrm>
            <a:off x="6675120" y="4069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Járműkategóriák</a:t>
            </a:r>
            <a:endParaRPr lang="en-US" sz="1400" dirty="0"/>
          </a:p>
        </p:txBody>
      </p:sp>
      <p:sp>
        <p:nvSpPr>
          <p:cNvPr id="22" name="Nyitott profil"/>
          <p:cNvSpPr/>
          <p:nvPr/>
        </p:nvSpPr>
        <p:spPr>
          <a:xfrm>
            <a:off x="457200" y="11887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23" name="Nyitott profil szöveg"/>
          <p:cNvSpPr txBox="1"/>
          <p:nvPr/>
        </p:nvSpPr>
        <p:spPr>
          <a:xfrm>
            <a:off x="54864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Nyitott: legyen-e külön Profil tábla?</a:t>
            </a:r>
            <a:endParaRPr lang="en-US" sz="1200" dirty="0"/>
          </a:p>
        </p:txBody>
      </p:sp>
      <p:sp>
        <p:nvSpPr>
          <p:cNvPr id="24" name="Nyitott táblák"/>
          <p:cNvSpPr/>
          <p:nvPr/>
        </p:nvSpPr>
        <p:spPr>
          <a:xfrm>
            <a:off x="6583680" y="11887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25" name="Nyitott táblák szöveg"/>
          <p:cNvSpPr txBox="1"/>
          <p:nvPr/>
        </p:nvSpPr>
        <p:spPr>
          <a:xfrm>
            <a:off x="667512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Nyitott: Hirdetések, Tranzakciók, Üzenetek táblák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Hol tartunk</a:t>
            </a:r>
            <a:endParaRPr lang="en-US" sz="3400" dirty="0"/>
          </a:p>
        </p:txBody>
      </p:sp>
      <p:sp>
        <p:nvSpPr>
          <p:cNvPr id="3" name="Kártya Megvan (tervezet)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Megvan (tervez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11480" cy="411480"/>
          </a:xfrm>
          <a:prstGeom prst="rect">
            <a:avLst/>
          </a:prstGeom>
        </p:spPr>
      </p:pic>
      <p:sp>
        <p:nvSpPr>
          <p:cNvPr id="5" name="Cím Megvan (tervezet)"/>
          <p:cNvSpPr txBox="1"/>
          <p:nvPr/>
        </p:nvSpPr>
        <p:spPr>
          <a:xfrm>
            <a:off x="1234440" y="1463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Megvan (tervezet)</a:t>
            </a:r>
            <a:endParaRPr lang="en-US" sz="2000" dirty="0"/>
          </a:p>
        </p:txBody>
      </p:sp>
      <p:pic>
        <p:nvPicPr>
          <p:cNvPr id="6" name="Image 1" descr="Pip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12848"/>
            <a:ext cx="228600" cy="228600"/>
          </a:xfrm>
          <a:prstGeom prst="rect">
            <a:avLst/>
          </a:prstGeom>
        </p:spPr>
      </p:pic>
      <p:sp>
        <p:nvSpPr>
          <p:cNvPr id="7" name="Elem Funkciók listája összeállítva"/>
          <p:cNvSpPr txBox="1"/>
          <p:nvPr/>
        </p:nvSpPr>
        <p:spPr>
          <a:xfrm>
            <a:off x="1188720" y="21031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Funkciók listája összeállítva</a:t>
            </a:r>
            <a:endParaRPr lang="en-US" sz="1400" dirty="0"/>
          </a:p>
        </p:txBody>
      </p:sp>
      <p:pic>
        <p:nvPicPr>
          <p:cNvPr id="8" name="Image 2" descr="Pip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34640"/>
            <a:ext cx="228600" cy="228600"/>
          </a:xfrm>
          <a:prstGeom prst="rect">
            <a:avLst/>
          </a:prstGeom>
        </p:spPr>
      </p:pic>
      <p:sp>
        <p:nvSpPr>
          <p:cNvPr id="9" name="Elem Szerepek kiosztva"/>
          <p:cNvSpPr txBox="1"/>
          <p:nvPr/>
        </p:nvSpPr>
        <p:spPr>
          <a:xfrm>
            <a:off x="1188720" y="27249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Szerepek kiosztva</a:t>
            </a:r>
            <a:endParaRPr lang="en-US" sz="1400" dirty="0"/>
          </a:p>
        </p:txBody>
      </p:sp>
      <p:pic>
        <p:nvPicPr>
          <p:cNvPr id="10" name="Image 3" descr="Pip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56432"/>
            <a:ext cx="228600" cy="228600"/>
          </a:xfrm>
          <a:prstGeom prst="rect">
            <a:avLst/>
          </a:prstGeom>
        </p:spPr>
      </p:pic>
      <p:sp>
        <p:nvSpPr>
          <p:cNvPr id="11" name="Elem 6 fő adatbázistábla megtervezve"/>
          <p:cNvSpPr txBox="1"/>
          <p:nvPr/>
        </p:nvSpPr>
        <p:spPr>
          <a:xfrm>
            <a:off x="1188720" y="33467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fő adatbázistábla megtervezve</a:t>
            </a:r>
            <a:endParaRPr lang="en-US" sz="1400" dirty="0"/>
          </a:p>
        </p:txBody>
      </p:sp>
      <p:pic>
        <p:nvPicPr>
          <p:cNvPr id="12" name="Image 4" descr="Pip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78224"/>
            <a:ext cx="228600" cy="228600"/>
          </a:xfrm>
          <a:prstGeom prst="rect">
            <a:avLst/>
          </a:prstGeom>
        </p:spPr>
      </p:pic>
      <p:sp>
        <p:nvSpPr>
          <p:cNvPr id="13" name="Elem Az oldal működése leírva"/>
          <p:cNvSpPr txBox="1"/>
          <p:nvPr/>
        </p:nvSpPr>
        <p:spPr>
          <a:xfrm>
            <a:off x="1188720" y="396849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oldal működése leírva</a:t>
            </a:r>
            <a:endParaRPr lang="en-US" sz="1400" dirty="0"/>
          </a:p>
        </p:txBody>
      </p:sp>
      <p:sp>
        <p:nvSpPr>
          <p:cNvPr id="14" name="Kártya Nyitott kérdések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Image 5" descr="Nyitott kérdése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463040"/>
            <a:ext cx="411480" cy="411480"/>
          </a:xfrm>
          <a:prstGeom prst="rect">
            <a:avLst/>
          </a:prstGeom>
        </p:spPr>
      </p:pic>
      <p:sp>
        <p:nvSpPr>
          <p:cNvPr id="16" name="Cím Nyitott kérdések"/>
          <p:cNvSpPr txBox="1"/>
          <p:nvPr/>
        </p:nvSpPr>
        <p:spPr>
          <a:xfrm>
            <a:off x="5440680" y="1463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Nyitott kérdések</a:t>
            </a:r>
            <a:endParaRPr lang="en-US" sz="2000" dirty="0"/>
          </a:p>
        </p:txBody>
      </p:sp>
      <p:pic>
        <p:nvPicPr>
          <p:cNvPr id="17" name="Image 6" descr="Pi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212848"/>
            <a:ext cx="228600" cy="228600"/>
          </a:xfrm>
          <a:prstGeom prst="rect">
            <a:avLst/>
          </a:prstGeom>
        </p:spPr>
      </p:pic>
      <p:sp>
        <p:nvSpPr>
          <p:cNvPr id="18" name="Elem Külön Profil tábla kell-e"/>
          <p:cNvSpPr txBox="1"/>
          <p:nvPr/>
        </p:nvSpPr>
        <p:spPr>
          <a:xfrm>
            <a:off x="5394960" y="21031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Külön Profil tábla kell-e</a:t>
            </a:r>
            <a:endParaRPr lang="en-US" sz="1400" dirty="0"/>
          </a:p>
        </p:txBody>
      </p:sp>
      <p:pic>
        <p:nvPicPr>
          <p:cNvPr id="19" name="Image 7" descr="Pip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834640"/>
            <a:ext cx="228600" cy="228600"/>
          </a:xfrm>
          <a:prstGeom prst="rect">
            <a:avLst/>
          </a:prstGeom>
        </p:spPr>
      </p:pic>
      <p:sp>
        <p:nvSpPr>
          <p:cNvPr id="20" name="Elem Hirdetések, Tranzakciók, Üzenetek táblák"/>
          <p:cNvSpPr txBox="1"/>
          <p:nvPr/>
        </p:nvSpPr>
        <p:spPr>
          <a:xfrm>
            <a:off x="5394960" y="27249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Hirdetések, Tranzakciók, Üzenetek táblák</a:t>
            </a:r>
            <a:endParaRPr lang="en-US" sz="1400" dirty="0"/>
          </a:p>
        </p:txBody>
      </p:sp>
      <p:pic>
        <p:nvPicPr>
          <p:cNvPr id="21" name="Image 8" descr="Pip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456432"/>
            <a:ext cx="228600" cy="228600"/>
          </a:xfrm>
          <a:prstGeom prst="rect">
            <a:avLst/>
          </a:prstGeom>
        </p:spPr>
      </p:pic>
      <p:sp>
        <p:nvSpPr>
          <p:cNvPr id="22" name="Elem AI-alapú ajánlások megvalósítása"/>
          <p:cNvSpPr txBox="1"/>
          <p:nvPr/>
        </p:nvSpPr>
        <p:spPr>
          <a:xfrm>
            <a:off x="5394960" y="33467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AI-alapú ajánlások megvalósítása</a:t>
            </a:r>
            <a:endParaRPr lang="en-US" sz="1400" dirty="0"/>
          </a:p>
        </p:txBody>
      </p:sp>
      <p:pic>
        <p:nvPicPr>
          <p:cNvPr id="23" name="Image 9" descr="Pip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078224"/>
            <a:ext cx="228600" cy="228600"/>
          </a:xfrm>
          <a:prstGeom prst="rect">
            <a:avLst/>
          </a:prstGeom>
        </p:spPr>
      </p:pic>
      <p:sp>
        <p:nvSpPr>
          <p:cNvPr id="24" name="Elem Létrehozás dátuma a bérléseknél és vásárlásoknál"/>
          <p:cNvSpPr txBox="1"/>
          <p:nvPr/>
        </p:nvSpPr>
        <p:spPr>
          <a:xfrm>
            <a:off x="5394960" y="396849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Létrehozás dátuma a bérléseknél és vásárlásoknál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Köszönjük a figyelmet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Garai Márk · Csikós Balázs · Oláh Zsombor</a:t>
            </a:r>
            <a:endParaRPr lang="en-US" sz="1800" dirty="0"/>
          </a:p>
        </p:txBody>
      </p:sp>
      <p:sp>
        <p:nvSpPr>
          <p:cNvPr id="4" name="Kérdések ikon kör"/>
          <p:cNvSpPr/>
          <p:nvPr/>
        </p:nvSpPr>
        <p:spPr>
          <a:xfrm>
            <a:off x="7589520" y="548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Kérdések 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5260" y="75438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utokolcsonzo">
  <a:themeElements>
    <a:clrScheme name="Autokolcsonzo">
      <a:dk1>
        <a:srgbClr val="14213D"/>
      </a:dk1>
      <a:lt1>
        <a:srgbClr val="FFFFFF"/>
      </a:lt1>
      <a:dk2>
        <a:srgbClr val="1F2A44"/>
      </a:dk2>
      <a:lt2>
        <a:srgbClr val="EEF1F7"/>
      </a:lt2>
      <a:accent1>
        <a:srgbClr val="FCA311"/>
      </a:accent1>
      <a:accent2>
        <a:srgbClr val="2A9D8F"/>
      </a:accent2>
      <a:accent3>
        <a:srgbClr val="E76F51"/>
      </a:accent3>
      <a:accent4>
        <a:srgbClr val="4361EE"/>
      </a:accent4>
      <a:accent5>
        <a:srgbClr val="5C677D"/>
      </a:accent5>
      <a:accent6>
        <a:srgbClr val="8AB17D"/>
      </a:accent6>
      <a:hlink>
        <a:srgbClr val="4361EE"/>
      </a:hlink>
      <a:folHlink>
        <a:srgbClr val="5C677D"/>
      </a:folHlink>
    </a:clrScheme>
    <a:fontScheme name="Autokolcsonz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Autókölcsönző weboldal – projektismertető</dc:title>
  <dc:subject>PptxGenJS Presentation</dc:subject>
  <dc:creator>Garai Márk, Csikós Balázs, Oláh Zsombor</dc:creator>
  <cp:lastModifiedBy>Garai Márk, Csikós Balázs, Oláh Zsombor</cp:lastModifiedBy>
  <cp:revision>1</cp:revision>
  <dcterms:created xsi:type="dcterms:W3CDTF">2026-10-06T11:04:59Z</dcterms:created>
  <dcterms:modified xsi:type="dcterms:W3CDTF">2026-10-06T11:04:59Z</dcterms:modified>
</cp:coreProperties>
</file>